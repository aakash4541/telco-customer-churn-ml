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Churn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Customer Churn Prediction Using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Machine Learning for Business Applications | MBA - Business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Telecom companies lose recurring revenue when customers churn.</a:t>
            </a:r>
          </a:p>
          <a:p>
            <a:pPr>
              <a:spcAft>
                <a:spcPts val="800"/>
              </a:spcAft>
              <a:defRPr sz="1800"/>
            </a:pPr>
            <a:r>
              <a:t>Manual identification of at-risk customers is inefficient.</a:t>
            </a:r>
          </a:p>
          <a:p>
            <a:pPr>
              <a:spcAft>
                <a:spcPts val="800"/>
              </a:spcAft>
              <a:defRPr sz="1800"/>
            </a:pPr>
            <a:r>
              <a:t>Goal: predict churn risk early and prioritize retention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Source: Kaggle Telco Customer Churn Dataset.</a:t>
            </a:r>
          </a:p>
          <a:p>
            <a:pPr>
              <a:spcAft>
                <a:spcPts val="800"/>
              </a:spcAft>
              <a:defRPr sz="1800"/>
            </a:pPr>
            <a:r>
              <a:t>7,032 customer records after cleaning.</a:t>
            </a:r>
          </a:p>
          <a:p>
            <a:pPr>
              <a:spcAft>
                <a:spcPts val="800"/>
              </a:spcAft>
              <a:defRPr sz="1800"/>
            </a:pPr>
            <a:r>
              <a:t>Target variable: Churn (Yes/No).</a:t>
            </a:r>
          </a:p>
          <a:p>
            <a:pPr>
              <a:spcAft>
                <a:spcPts val="800"/>
              </a:spcAft>
              <a:defRPr sz="1800"/>
            </a:pPr>
            <a:r>
              <a:t>Features cover demographics, services, contracts and billing.</a:t>
            </a:r>
          </a:p>
        </p:txBody>
      </p:sp>
      <p:pic>
        <p:nvPicPr>
          <p:cNvPr id="4" name="Picture 3" descr="chur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212080" cy="33506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EDA: Contract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Churn rates differ substantially by contract type.</a:t>
            </a:r>
          </a:p>
          <a:p>
            <a:pPr>
              <a:spcAft>
                <a:spcPts val="800"/>
              </a:spcAft>
              <a:defRPr sz="1800"/>
            </a:pPr>
            <a:r>
              <a:t>Shorter contracts generally have higher churn.</a:t>
            </a:r>
          </a:p>
          <a:p>
            <a:pPr>
              <a:spcAft>
                <a:spcPts val="800"/>
              </a:spcAft>
              <a:defRPr sz="1800"/>
            </a:pPr>
            <a:r>
              <a:t>Contract information can support retention segmentation.</a:t>
            </a:r>
          </a:p>
        </p:txBody>
      </p:sp>
      <p:pic>
        <p:nvPicPr>
          <p:cNvPr id="4" name="Picture 3" descr="contract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212080" cy="33506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EDA: Service &amp; Tenure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Internet service category is associated with different churn rates.</a:t>
            </a:r>
          </a:p>
          <a:p>
            <a:pPr>
              <a:spcAft>
                <a:spcPts val="800"/>
              </a:spcAft>
              <a:defRPr sz="1800"/>
            </a:pPr>
            <a:r>
              <a:t>Customers with shorter tenure generally show higher churn risk.</a:t>
            </a:r>
          </a:p>
          <a:p>
            <a:pPr>
              <a:spcAft>
                <a:spcPts val="800"/>
              </a:spcAft>
              <a:defRPr sz="1800"/>
            </a:pPr>
            <a:r>
              <a:t>These patterns can help prioritize customer engagement.</a:t>
            </a:r>
          </a:p>
        </p:txBody>
      </p:sp>
      <p:pic>
        <p:nvPicPr>
          <p:cNvPr id="4" name="Picture 3" descr="internet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212080" cy="33506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Machine Learning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Converted TotalCharges to numeric and handled missing values.</a:t>
            </a:r>
          </a:p>
          <a:p>
            <a:pPr>
              <a:spcAft>
                <a:spcPts val="800"/>
              </a:spcAft>
              <a:defRPr sz="1800"/>
            </a:pPr>
            <a:r>
              <a:t>Removed customerID because it is an identifier.</a:t>
            </a:r>
          </a:p>
          <a:p>
            <a:pPr>
              <a:spcAft>
                <a:spcPts val="800"/>
              </a:spcAft>
              <a:defRPr sz="1800"/>
            </a:pPr>
            <a:r>
              <a:t>Used one-hot encoding for categorical features.</a:t>
            </a:r>
          </a:p>
          <a:p>
            <a:pPr>
              <a:spcAft>
                <a:spcPts val="800"/>
              </a:spcAft>
              <a:defRPr sz="1800"/>
            </a:pPr>
            <a:r>
              <a:t>Used an 80:20 stratified train-test split.</a:t>
            </a:r>
          </a:p>
          <a:p>
            <a:pPr>
              <a:spcAft>
                <a:spcPts val="800"/>
              </a:spcAft>
              <a:defRPr sz="1800"/>
            </a:pPr>
            <a:r>
              <a:t>Compared Logistic Regression and Random Forest.</a:t>
            </a:r>
          </a:p>
        </p:txBody>
      </p:sp>
      <p:pic>
        <p:nvPicPr>
          <p:cNvPr id="4" name="Picture 3" descr="tenure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212080" cy="33506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Logistic Regression ROC-AUC: 0.836</a:t>
            </a:r>
          </a:p>
          <a:p>
            <a:pPr>
              <a:spcAft>
                <a:spcPts val="800"/>
              </a:spcAft>
              <a:defRPr sz="1800"/>
            </a:pPr>
            <a:r>
              <a:t>Random Forest ROC-AUC: 0.812</a:t>
            </a:r>
          </a:p>
          <a:p>
            <a:pPr>
              <a:spcAft>
                <a:spcPts val="800"/>
              </a:spcAft>
              <a:defRPr sz="1800"/>
            </a:pPr>
            <a:r>
              <a:t>Logistic Regression accuracy: 0.805</a:t>
            </a:r>
          </a:p>
          <a:p>
            <a:pPr>
              <a:spcAft>
                <a:spcPts val="800"/>
              </a:spcAft>
              <a:defRPr sz="1800"/>
            </a:pPr>
            <a:r>
              <a:t>Final model: Logistic Regression.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212080" cy="33506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Logistic Regression identifies a meaningful share of actual churners.</a:t>
            </a:r>
          </a:p>
          <a:p>
            <a:pPr>
              <a:spcAft>
                <a:spcPts val="800"/>
              </a:spcAft>
              <a:defRPr sz="1800"/>
            </a:pPr>
            <a:r>
              <a:t>Recall: 0.575</a:t>
            </a:r>
          </a:p>
          <a:p>
            <a:pPr>
              <a:spcAft>
                <a:spcPts val="800"/>
              </a:spcAft>
              <a:defRPr sz="1800"/>
            </a:pPr>
            <a:r>
              <a:t>F1 score: 0.611</a:t>
            </a:r>
          </a:p>
          <a:p>
            <a:pPr>
              <a:spcAft>
                <a:spcPts val="800"/>
              </a:spcAft>
              <a:defRPr sz="1800"/>
            </a:pPr>
            <a:r>
              <a:t>Use the probability output to prioritize retention resources.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212080" cy="41696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Streamlit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Business Problem page explains the business use case.</a:t>
            </a:r>
          </a:p>
          <a:p>
            <a:pPr>
              <a:spcAft>
                <a:spcPts val="800"/>
              </a:spcAft>
              <a:defRPr sz="1800"/>
            </a:pPr>
            <a:r>
              <a:t>Data Insights page presents churn patterns.</a:t>
            </a:r>
          </a:p>
          <a:p>
            <a:pPr>
              <a:spcAft>
                <a:spcPts val="800"/>
              </a:spcAft>
              <a:defRPr sz="1800"/>
            </a:pPr>
            <a:r>
              <a:t>Prediction page accepts customer details.</a:t>
            </a:r>
          </a:p>
          <a:p>
            <a:pPr>
              <a:spcAft>
                <a:spcPts val="800"/>
              </a:spcAft>
              <a:defRPr sz="1800"/>
            </a:pPr>
            <a:r>
              <a:t>Output: churn probability, risk category and recommended 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Prioritize customers with high predicted churn probability.</a:t>
            </a:r>
          </a:p>
          <a:p>
            <a:pPr>
              <a:spcAft>
                <a:spcPts val="800"/>
              </a:spcAft>
              <a:defRPr sz="1800"/>
            </a:pPr>
            <a:r>
              <a:t>Give special attention to shorter contracts and lower-tenure customers.</a:t>
            </a:r>
          </a:p>
          <a:p>
            <a:pPr>
              <a:spcAft>
                <a:spcPts val="800"/>
              </a:spcAft>
              <a:defRPr sz="1800"/>
            </a:pPr>
            <a:r>
              <a:t>Combine model scores with customer value and service history.</a:t>
            </a:r>
          </a:p>
          <a:p>
            <a:pPr>
              <a:spcAft>
                <a:spcPts val="800"/>
              </a:spcAft>
              <a:defRPr sz="1800"/>
            </a:pPr>
            <a:r>
              <a:t>Retrain periodically as new customer data becomes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